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8" Type="http://schemas.openxmlformats.org/officeDocument/2006/relationships/viewProps" Target="viewProps.xml" /><Relationship Id="rId3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0" Type="http://schemas.openxmlformats.org/officeDocument/2006/relationships/tableStyles" Target="tableStyles.xml" /><Relationship Id="rId3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016/j.cma.2022.115041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Multi-Output Physics-Informed Neural Networks for Forward and Inverse PDE Problems with Uncertainties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Mingyuan Yang</a:t>
            </a:r>
            <a:br/>
            <a:r>
              <a:rPr/>
              <a:t>John T. Foster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2023-08-18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Physics Informed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PINNs</a:t>
            </a:r>
          </a:p>
          <a:p>
            <a:pPr lvl="0" indent="0" marL="0">
              <a:buNone/>
            </a:pPr>
            <a:r>
              <a:rPr/>
              <a:t>Introduced in (Raissi, Perdikaris, and Karniadakis 2019) as a general method for solving partial differential equations.</a:t>
            </a:r>
          </a:p>
          <a:p>
            <a:pPr lvl="0" indent="0" marL="0">
              <a:buNone/>
            </a:pPr>
            <a:r>
              <a:rPr/>
              <a:t>Already recieved &gt;5900 citations since posting on arXiv in 2018!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Generic PINN architecture</a:t>
            </a:r>
          </a:p>
        </p:txBody>
      </p:sp>
      <p:pic>
        <p:nvPicPr>
          <p:cNvPr descr="direct_2023_mopinn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78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Loss function for generic PINN system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d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u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  <m:r>
                                      <m:t>N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f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  <m: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  <m:scr m:val="script"/>
                              </m:rPr>
                              <m:t>L</m:t>
                            </m:r>
                            <m:sSub>
                              <m:e>
                                <m:r>
                                  <m:t>u</m:t>
                                </m:r>
                              </m:e>
                              <m:sub>
                                <m:r>
                                  <m:t>N</m:t>
                                </m:r>
                                <m: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−</m:t>
                            </m:r>
                            <m:sSub>
                              <m:e>
                                <m:r>
                                  <m:t>f</m:t>
                                </m:r>
                              </m:e>
                              <m:sub>
                                <m:r>
                                  <m:t>N</m:t>
                                </m:r>
                                <m: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  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∈</m:t>
                            </m:r>
                            <m:r>
                              <m:t>Ω</m:t>
                            </m:r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e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u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  <m: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sSub>
                              <m:e>
                                <m:r>
                                  <m:t>u</m:t>
                                </m:r>
                              </m:e>
                              <m:sub>
                                <m:r>
                                  <m:t>N</m:t>
                                </m:r>
                                <m: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h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  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∈</m:t>
                            </m:r>
                            <m:r>
                              <m:rPr>
                                <m:sty m:val="p"/>
                              </m:rPr>
                              <m:t>∂</m:t>
                            </m:r>
                            <m:sSub>
                              <m:e>
                                <m:r>
                                  <m:t>Ω</m:t>
                                </m:r>
                              </m:e>
                              <m:sub>
                                <m:r>
                                  <m:t>h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n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u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  <m: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m:t>∂</m:t>
                                </m:r>
                                <m:sSub>
                                  <m:e>
                                    <m:r>
                                      <m:t>u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  <m:r>
                                      <m:t>N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m:t>∂</m:t>
                                </m:r>
                                <m:r>
                                  <m:t>x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g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  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∈</m:t>
                            </m:r>
                            <m:r>
                              <m:rPr>
                                <m:sty m:val="p"/>
                              </m:rPr>
                              <m:t>∂</m:t>
                            </m:r>
                            <m:sSub>
                              <m:e>
                                <m:r>
                                  <m:t>Ω</m:t>
                                </m:r>
                              </m:e>
                              <m:sub>
                                <m:r>
                                  <m:t>g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u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u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  <m: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sSub>
                              <m:e>
                                <m:r>
                                  <m:t>u</m:t>
                                </m:r>
                              </m:e>
                              <m:sub>
                                <m:r>
                                  <m:t>N</m:t>
                                </m:r>
                                <m:r>
                                  <m:t>N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Sup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  <m:sup>
                                    <m:r>
                                      <m:t>u</m:t>
                                    </m:r>
                                  </m:sup>
                                </m:sSubSup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sSub>
                              <m:e>
                                <m:r>
                                  <m:t>u</m:t>
                                </m:r>
                              </m:e>
                              <m:sub>
                                <m:r>
                                  <m:t>m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Sup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  <m:sup>
                                    <m:r>
                                      <m:t>u</m:t>
                                    </m:r>
                                  </m:sup>
                                </m:sSubSup>
                              </m:e>
                            </m:d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  </m:t>
                            </m:r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2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rPr>
                                <m:sty m:val="p"/>
                              </m:rPr>
                              <m:t>.</m:t>
                            </m:r>
                            <m:r>
                              <m:rPr>
                                <m:sty m:val="p"/>
                              </m:rPr>
                              <m:t>.</m:t>
                            </m:r>
                            <m:r>
                              <m:rPr>
                                <m:sty m:val="p"/>
                              </m:rPr>
                              <m:t>.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n</m:t>
                            </m:r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f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f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  <m: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sSub>
                              <m:e>
                                <m:r>
                                  <m:t>f</m:t>
                                </m:r>
                              </m:e>
                              <m:sub>
                                <m:r>
                                  <m:t>N</m:t>
                                </m:r>
                                <m:r>
                                  <m:t>N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Sup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  <m:sup>
                                    <m:r>
                                      <m:t>f</m:t>
                                    </m:r>
                                  </m:sup>
                                </m:sSubSup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sSub>
                              <m:e>
                                <m:r>
                                  <m:t>f</m:t>
                                </m:r>
                              </m:e>
                              <m:sub>
                                <m:r>
                                  <m:t>m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Sup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  <m:sup>
                                    <m:r>
                                      <m:t>f</m:t>
                                    </m:r>
                                  </m:sup>
                                </m:sSubSup>
                              </m:e>
                            </m:d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  </m:t>
                            </m:r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2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rPr>
                                <m:sty m:val="p"/>
                              </m:rPr>
                              <m:t>.</m:t>
                            </m:r>
                            <m:r>
                              <m:rPr>
                                <m:sty m:val="p"/>
                              </m:rPr>
                              <m:t>.</m:t>
                            </m:r>
                            <m:r>
                              <m:rPr>
                                <m:sty m:val="p"/>
                              </m:rPr>
                              <m:t>.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m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center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L</m:t>
                                </m:r>
                              </m:e>
                              <m:sub>
                                <m:r>
                                  <m:t>M</m:t>
                                </m:r>
                                <m:r>
                                  <m:t>S</m:t>
                                </m:r>
                                <m:r>
                                  <m:t>E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r>
                                  <m:t>N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i</m:t>
                                </m:r>
                              </m:sub>
                              <m:sup>
                                <m:r>
                                  <m:t>N</m:t>
                                </m:r>
                              </m:sup>
                              <m:e>
                                <m:sSubSup>
                                  <m:e>
                                    <m:r>
                                      <m:t>r</m:t>
                                    </m:r>
                                  </m:e>
                                  <m:sub>
                                    <m:r>
                                      <m:t>d</m:t>
                                    </m:r>
                                  </m:sub>
                                  <m:sup>
                                    <m: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  <m:r>
                              <m:rPr>
                                <m:sty m:val="p"/>
                              </m:rPr>
                              <m:t>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m:t>N</m:t>
                                    </m:r>
                                  </m:e>
                                  <m:sub>
                                    <m:r>
                                      <m:t>e</m:t>
                                    </m:r>
                                  </m:sub>
                                </m:sSub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sSub>
                                  <m:e>
                                    <m:r>
                                      <m:t>N</m:t>
                                    </m:r>
                                  </m:e>
                                  <m:sub>
                                    <m:r>
                                      <m:t>e</m:t>
                                    </m:r>
                                  </m:sub>
                                </m:sSub>
                              </m:sup>
                              <m:e>
                                <m:sSubSup>
                                  <m:e>
                                    <m:r>
                                      <m:t>r</m:t>
                                    </m:r>
                                  </m:e>
                                  <m:sub>
                                    <m:r>
                                      <m:t>e</m:t>
                                    </m:r>
                                  </m:sub>
                                  <m:sup>
                                    <m: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  <m:r>
                              <m:rPr>
                                <m:sty m:val="p"/>
                              </m:rPr>
                              <m:t>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m:t>N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</m:sub>
                                </m:sSub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sSub>
                                  <m:e>
                                    <m:r>
                                      <m:t>N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</m:sub>
                                </m:sSub>
                              </m:sup>
                              <m:e>
                                <m:sSubSup>
                                  <m:e>
                                    <m:r>
                                      <m:t>r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</m:sub>
                                  <m:sup>
                                    <m: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  <m:r>
                              <m:rPr>
                                <m:sty m:val="p"/>
                              </m:rPr>
                              <m:t>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r>
                                  <m:t>n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n</m:t>
                                </m:r>
                              </m:sup>
                              <m:e>
                                <m:sSubSup>
                                  <m:e>
                                    <m:r>
                                      <m:t>r</m:t>
                                    </m:r>
                                  </m:e>
                                  <m:sub>
                                    <m:r>
                                      <m:t>u</m:t>
                                    </m:r>
                                  </m:sub>
                                  <m:sup>
                                    <m: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  <m:r>
                              <m:rPr>
                                <m:sty m:val="p"/>
                              </m:rPr>
                              <m:t>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r>
                                  <m:t>m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m</m:t>
                                </m:r>
                              </m:sup>
                              <m:e>
                                <m:sSubSup>
                                  <m:e>
                                    <m:r>
                                      <m:t>r</m:t>
                                    </m:r>
                                  </m:e>
                                  <m:sub>
                                    <m:r>
                                      <m:t>f</m:t>
                                    </m:r>
                                  </m:sub>
                                  <m:sup>
                                    <m: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Extensions of PINNs for UQ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B-PINNs (L. Yang, Meng, and Karniadakis 2021)</a:t>
            </a:r>
          </a:p>
          <a:p>
            <a:pPr lvl="0"/>
            <a:r>
              <a:rPr/>
              <a:t>E-PINN (Jiang et al. 2022)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Multi-Output PINN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MO-PINN (M. Yang and Foster 2022)</a:t>
            </a:r>
          </a:p>
        </p:txBody>
      </p:sp>
      <p:pic>
        <p:nvPicPr>
          <p:cNvPr descr="direct_2023_mopinn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12800"/>
            <a:ext cx="5105400" cy="316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Loss function for generic MO-PINN system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d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Sup>
                                  <m:e>
                                    <m:r>
                                      <m:t>u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  <m:r>
                                      <m:t>N</m:t>
                                    </m:r>
                                  </m:sub>
                                  <m:sup>
                                    <m:r>
                                      <m:t>j</m:t>
                                    </m:r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Sup>
                                  <m:e>
                                    <m:r>
                                      <m:t>f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  <m:r>
                                      <m:t>N</m:t>
                                    </m:r>
                                  </m:sub>
                                  <m:sup>
                                    <m:r>
                                      <m:t>j</m:t>
                                    </m:r>
                                  </m:sup>
                                </m:sSubSup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  <m:scr m:val="script"/>
                              </m:rPr>
                              <m:t>L</m:t>
                            </m:r>
                            <m:sSubSup>
                              <m:e>
                                <m:r>
                                  <m:t>u</m:t>
                                </m:r>
                              </m:e>
                              <m:sub>
                                <m:r>
                                  <m:t>N</m:t>
                                </m:r>
                                <m:r>
                                  <m:t>N</m:t>
                                </m:r>
                              </m:sub>
                              <m:sup>
                                <m:r>
                                  <m:t>j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bSup>
                              <m:e>
                                <m:r>
                                  <m:t>f</m:t>
                                </m:r>
                              </m:e>
                              <m:sub>
                                <m:r>
                                  <m:t>N</m:t>
                                </m:r>
                                <m:r>
                                  <m:t>N</m:t>
                                </m:r>
                              </m:sub>
                              <m:sup>
                                <m:r>
                                  <m:t>j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  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∈</m:t>
                            </m:r>
                            <m:r>
                              <m:t>Ω</m:t>
                            </m:r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e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Sup>
                                  <m:e>
                                    <m:r>
                                      <m:t>u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  <m:r>
                                      <m:t>N</m:t>
                                    </m:r>
                                  </m:sub>
                                  <m:sup>
                                    <m:r>
                                      <m:t>j</m:t>
                                    </m:r>
                                  </m:sup>
                                </m:sSubSup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sSubSup>
                              <m:e>
                                <m:r>
                                  <m:t>u</m:t>
                                </m:r>
                              </m:e>
                              <m:sub>
                                <m:r>
                                  <m:t>N</m:t>
                                </m:r>
                                <m:r>
                                  <m:t>N</m:t>
                                </m:r>
                              </m:sub>
                              <m:sup>
                                <m:r>
                                  <m:t>j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h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  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∈</m:t>
                            </m:r>
                            <m:r>
                              <m:rPr>
                                <m:sty m:val="p"/>
                              </m:rPr>
                              <m:t>∂</m:t>
                            </m:r>
                            <m:sSub>
                              <m:e>
                                <m:r>
                                  <m:t>Ω</m:t>
                                </m:r>
                              </m:e>
                              <m:sub>
                                <m:r>
                                  <m:t>h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n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Sup>
                                  <m:e>
                                    <m:r>
                                      <m:t>u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  <m:r>
                                      <m:t>N</m:t>
                                    </m:r>
                                  </m:sub>
                                  <m:sup>
                                    <m:r>
                                      <m:t>j</m:t>
                                    </m:r>
                                  </m:sup>
                                </m:sSubSup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m:t>∂</m:t>
                                </m:r>
                                <m:sSubSup>
                                  <m:e>
                                    <m:r>
                                      <m:t>u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  <m:r>
                                      <m:t>N</m:t>
                                    </m:r>
                                  </m:sub>
                                  <m:sup>
                                    <m:r>
                                      <m:t>j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m:t>∂</m:t>
                                </m:r>
                                <m:r>
                                  <m:t>x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g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  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∈</m:t>
                            </m:r>
                            <m:r>
                              <m:rPr>
                                <m:sty m:val="p"/>
                              </m:rPr>
                              <m:t>∂</m:t>
                            </m:r>
                            <m:sSub>
                              <m:e>
                                <m:r>
                                  <m:t>Ω</m:t>
                                </m:r>
                              </m:e>
                              <m:sub>
                                <m:r>
                                  <m:t>g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u</m:t>
                                </m:r>
                                <m:r>
                                  <m:t>m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Sup>
                                  <m:e>
                                    <m:r>
                                      <m:t>u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  <m:r>
                                      <m:t>N</m:t>
                                    </m:r>
                                  </m:sub>
                                  <m:sup>
                                    <m:r>
                                      <m:t>j</m:t>
                                    </m:r>
                                  </m:sup>
                                </m:sSubSup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sSubSup>
                              <m:e>
                                <m:r>
                                  <m:t>u</m:t>
                                </m:r>
                              </m:e>
                              <m:sub>
                                <m:r>
                                  <m:t>N</m:t>
                                </m:r>
                                <m:r>
                                  <m:t>N</m:t>
                                </m:r>
                              </m:sub>
                              <m:sup>
                                <m:r>
                                  <m:t>j</m:t>
                                </m:r>
                              </m:sup>
                            </m:sSub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Sup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  <m:sup>
                                    <m:r>
                                      <m:t>u</m:t>
                                    </m:r>
                                  </m:sup>
                                </m:sSubSup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u</m:t>
                                    </m:r>
                                  </m:e>
                                  <m:sub>
                                    <m:r>
                                      <m:t>m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sSubSup>
                                      <m:e>
                                        <m: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  <m:sup>
                                        <m:r>
                                          <m:t>u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sSubSup>
                                  <m:e>
                                    <m:r>
                                      <m:t>σ</m:t>
                                    </m:r>
                                  </m:e>
                                  <m:sub>
                                    <m:r>
                                      <m:t>u</m:t>
                                    </m:r>
                                  </m:sub>
                                  <m:sup>
                                    <m:r>
                                      <m:t>j</m:t>
                                    </m:r>
                                  </m:sup>
                                </m:sSubSup>
                              </m:e>
                            </m:d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  </m:t>
                            </m:r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2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rPr>
                                <m:sty m:val="p"/>
                              </m:rPr>
                              <m:t>.</m:t>
                            </m:r>
                            <m:r>
                              <m:rPr>
                                <m:sty m:val="p"/>
                              </m:rPr>
                              <m:t>.</m:t>
                            </m:r>
                            <m:r>
                              <m:rPr>
                                <m:sty m:val="p"/>
                              </m:rPr>
                              <m:t>.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n</m:t>
                            </m:r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f</m:t>
                                </m:r>
                                <m:r>
                                  <m:t>m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Sup>
                                  <m:e>
                                    <m:r>
                                      <m:t>f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  <m:r>
                                      <m:t>N</m:t>
                                    </m:r>
                                  </m:sub>
                                  <m:sup>
                                    <m:r>
                                      <m:t>j</m:t>
                                    </m:r>
                                  </m:sup>
                                </m:sSubSup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sSubSup>
                              <m:e>
                                <m:r>
                                  <m:t>f</m:t>
                                </m:r>
                              </m:e>
                              <m:sub>
                                <m:r>
                                  <m:t>N</m:t>
                                </m:r>
                                <m:r>
                                  <m:t>N</m:t>
                                </m:r>
                              </m:sub>
                              <m:sup>
                                <m:r>
                                  <m:t>j</m:t>
                                </m:r>
                              </m:sup>
                            </m:sSub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Sup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  <m:sup>
                                    <m:r>
                                      <m:t>f</m:t>
                                    </m:r>
                                  </m:sup>
                                </m:sSubSup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f</m:t>
                                    </m:r>
                                  </m:e>
                                  <m:sub>
                                    <m:r>
                                      <m:t>m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sSubSup>
                                      <m:e>
                                        <m: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  <m:sup>
                                        <m:r>
                                          <m:t>f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sSubSup>
                                  <m:e>
                                    <m:r>
                                      <m:t>σ</m:t>
                                    </m:r>
                                  </m:e>
                                  <m:sub>
                                    <m:r>
                                      <m:t>f</m:t>
                                    </m:r>
                                  </m:sub>
                                  <m:sup>
                                    <m:r>
                                      <m:t>j</m:t>
                                    </m:r>
                                  </m:sup>
                                </m:sSubSup>
                              </m:e>
                            </m:d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  </m:t>
                            </m:r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2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rPr>
                                <m:sty m:val="p"/>
                              </m:rPr>
                              <m:t>.</m:t>
                            </m:r>
                            <m:r>
                              <m:rPr>
                                <m:sty m:val="p"/>
                              </m:rPr>
                              <m:t>.</m:t>
                            </m:r>
                            <m:r>
                              <m:rPr>
                                <m:sty m:val="p"/>
                              </m:rPr>
                              <m:t>.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m</m:t>
                            </m:r>
                            <m:r>
                              <m:t> 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center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L</m:t>
                                </m:r>
                              </m:e>
                              <m:sub>
                                <m:r>
                                  <m:t>M</m:t>
                                </m:r>
                                <m:r>
                                  <m:t>S</m:t>
                                </m:r>
                                <m:r>
                                  <m:t>E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r>
                                  <m:t>M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M</m:t>
                                </m:r>
                              </m: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f>
                                      <m:fPr>
                                        <m:type m:val="bar"/>
                                      </m:fPr>
                                      <m:num>
                                        <m: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m:t>N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limLoc m:val="undOvr"/>
                                        <m:subHide m:val="off"/>
                                        <m:supHide m:val="off"/>
                                      </m:naryPr>
                                      <m:sub>
                                        <m:r>
                                          <m:t>i</m:t>
                                        </m:r>
                                      </m:sub>
                                      <m:sup>
                                        <m:r>
                                          <m:t>N</m:t>
                                        </m:r>
                                      </m:sup>
                                      <m:e>
                                        <m:sSubSup>
                                          <m:e>
                                            <m:r>
                                              <m:t>r</m:t>
                                            </m:r>
                                          </m:e>
                                          <m:sub>
                                            <m:r>
                                              <m:t>d</m:t>
                                            </m:r>
                                          </m:sub>
                                          <m:sup>
                                            <m: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nary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</m:fPr>
                                      <m:num>
                                        <m: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e>
                                            <m:r>
                                              <m:t>N</m:t>
                                            </m:r>
                                          </m:e>
                                          <m:sub>
                                            <m:r>
                                              <m:t>e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limLoc m:val="undOvr"/>
                                        <m:subHide m:val="off"/>
                                        <m:supHide m:val="off"/>
                                      </m:naryPr>
                                      <m:sub>
                                        <m:r>
                                          <m:t>i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=</m:t>
                                        </m:r>
                                        <m:r>
                                          <m:t>1</m:t>
                                        </m:r>
                                      </m:sub>
                                      <m:sup>
                                        <m:sSub>
                                          <m:e>
                                            <m:r>
                                              <m:t>N</m:t>
                                            </m:r>
                                          </m:e>
                                          <m:sub>
                                            <m:r>
                                              <m:t>e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sSubSup>
                                          <m:e>
                                            <m:r>
                                              <m:t>r</m:t>
                                            </m:r>
                                          </m:e>
                                          <m:sub>
                                            <m:r>
                                              <m:t>e</m:t>
                                            </m:r>
                                          </m:sub>
                                          <m:sup>
                                            <m: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nary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</m:fPr>
                                      <m:num>
                                        <m: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e>
                                            <m:r>
                                              <m:t>N</m:t>
                                            </m:r>
                                          </m:e>
                                          <m:sub>
                                            <m:r>
                                              <m:t>n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limLoc m:val="undOvr"/>
                                        <m:subHide m:val="off"/>
                                        <m:supHide m:val="off"/>
                                      </m:naryPr>
                                      <m:sub>
                                        <m:r>
                                          <m:t>i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=</m:t>
                                        </m:r>
                                        <m:r>
                                          <m:t>1</m:t>
                                        </m:r>
                                      </m:sub>
                                      <m:sup>
                                        <m:sSub>
                                          <m:e>
                                            <m:r>
                                              <m:t>N</m:t>
                                            </m:r>
                                          </m:e>
                                          <m:sub>
                                            <m:r>
                                              <m:t>n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sSubSup>
                                          <m:e>
                                            <m:r>
                                              <m:t>r</m:t>
                                            </m:r>
                                          </m:e>
                                          <m:sub>
                                            <m:r>
                                              <m:t>n</m:t>
                                            </m:r>
                                          </m:sub>
                                          <m:sup>
                                            <m: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nary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</m:fPr>
                                      <m:num>
                                        <m: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m:t>n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limLoc m:val="undOvr"/>
                                        <m:subHide m:val="off"/>
                                        <m:supHide m:val="off"/>
                                      </m:naryPr>
                                      <m:sub>
                                        <m:r>
                                          <m:t>i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=</m:t>
                                        </m:r>
                                        <m: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m:t>n</m:t>
                                        </m:r>
                                      </m:sup>
                                      <m:e>
                                        <m:sSubSup>
                                          <m:e>
                                            <m:r>
                                              <m:t>r</m:t>
                                            </m:r>
                                          </m:e>
                                          <m:sub>
                                            <m:r>
                                              <m:t>u</m:t>
                                            </m:r>
                                            <m:r>
                                              <m:t>m</m:t>
                                            </m:r>
                                          </m:sub>
                                          <m:sup>
                                            <m: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nary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</m:fPr>
                                      <m:num>
                                        <m: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m:t>m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limLoc m:val="undOvr"/>
                                        <m:subHide m:val="off"/>
                                        <m:supHide m:val="off"/>
                                      </m:naryPr>
                                      <m:sub>
                                        <m:r>
                                          <m:t>i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=</m:t>
                                        </m:r>
                                        <m: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m:t>m</m:t>
                                        </m:r>
                                      </m:sup>
                                      <m:e>
                                        <m:sSubSup>
                                          <m:e>
                                            <m:r>
                                              <m:t>r</m:t>
                                            </m:r>
                                          </m:e>
                                          <m:sub>
                                            <m:r>
                                              <m:t>f</m:t>
                                            </m:r>
                                            <m:r>
                                              <m:t>m</m:t>
                                            </m:r>
                                          </m:sub>
                                          <m:sup>
                                            <m: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nary>
                                  </m:e>
                                </m:d>
                              </m:e>
                            </m:nary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Forward PDE problems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One-dimensional linear Poisson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center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λ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m:t>∂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  <m:r>
                                  <m:t>u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m:t>∂</m:t>
                                </m:r>
                                <m:sSup>
                                  <m:e>
                                    <m:r>
                                      <m:t>x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f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  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∈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0.7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0.7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λ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0.01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u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6</m:t>
                        </m:r>
                        <m:r>
                          <m:t>x</m:t>
                        </m:r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Network architecture and hyperparameters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2 neural networks: </a:t>
                </a:r>
                <a14:m>
                  <m:oMath xmlns:m="http://schemas.openxmlformats.org/officeDocument/2006/math">
                    <m:sSub>
                      <m:e>
                        <m:r>
                          <m:t>u</m:t>
                        </m:r>
                      </m:e>
                      <m:sub>
                        <m:r>
                          <m:t>N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N</m:t>
                        </m:r>
                        <m:r>
                          <m:t>N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2 hidden layers with 20 and 40 neurons each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tanh</m:t>
                    </m:r>
                  </m:oMath>
                </a14:m>
                <a:r>
                  <a:rPr/>
                  <a:t> activation function</a:t>
                </a:r>
              </a:p>
              <a:p>
                <a:pPr lvl="0"/>
                <a:r>
                  <a:rPr/>
                  <a:t>ADAM optimizer</a:t>
                </a:r>
              </a:p>
              <a:p>
                <a:pPr lvl="0"/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</m:oMath>
                </a14:m>
                <a:r>
                  <a:rPr/>
                  <a:t> learning rate</a:t>
                </a:r>
              </a:p>
              <a:p>
                <a:pPr lvl="0"/>
                <a:r>
                  <a:rPr/>
                  <a:t>Xavier normalization</a:t>
                </a:r>
              </a:p>
              <a:p>
                <a:pPr lvl="0"/>
                <a:r>
                  <a:rPr/>
                  <a:t>10000 epochs</a:t>
                </a:r>
              </a:p>
              <a:p>
                <a:pPr lvl="0"/>
                <a:r>
                  <a:rPr/>
                  <a:t>500 outputs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Predictions w/ </a:t>
                </a:r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0.01</m:t>
                    </m:r>
                  </m:oMath>
                </a14:m>
                <a:r>
                  <a:rPr/>
                  <a:t> noise on measurements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Predictions w/ </a:t>
                </a:r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0.1</m:t>
                    </m:r>
                  </m:oMath>
                </a14:m>
                <a:r>
                  <a:rPr/>
                  <a:t> noise on measurements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Sensitivity to random network parameter initialization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0.1</m:t>
                    </m:r>
                  </m:oMath>
                </a14:m>
                <a:r>
                  <a:rPr b="1"/>
                  <a:t> noise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Sensitivity to measurement 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0.1</m:t>
                    </m:r>
                  </m:oMath>
                </a14:m>
                <a:r>
                  <a:rPr b="1"/>
                  <a:t> noise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One-dimensional nonlinear Poisson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center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λ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m:t>∂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  <m:r>
                                  <m:t>u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m:t>∂</m:t>
                                </m:r>
                                <m:sSup>
                                  <m:e>
                                    <m:r>
                                      <m:t>x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k</m:t>
                            </m:r>
                            <m:r>
                              <m:rPr>
                                <m:sty m:val="p"/>
                              </m:rPr>
                              <m:t>tanh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u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f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  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∈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0.7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0.7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λ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0.01</m:t>
                    </m:r>
                    <m:r>
                      <m:rPr>
                        <m:sty m:val="p"/>
                      </m:rPr>
                      <m:t>,</m:t>
                    </m:r>
                    <m:r>
                      <m:t>k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0.7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u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6</m:t>
                        </m:r>
                        <m:r>
                          <m:t>x</m:t>
                        </m:r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Predictions w/ </a:t>
                </a:r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0.01</m:t>
                    </m:r>
                  </m:oMath>
                </a14:m>
                <a:r>
                  <a:rPr/>
                  <a:t> noise on measurements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Predictions w/ </a:t>
                </a:r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0.1</m:t>
                    </m:r>
                  </m:oMath>
                </a14:m>
                <a:r>
                  <a:rPr/>
                  <a:t> noise on measurements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Two-dimensional nonlinear Allen-Cahn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center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λ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m:t>∂</m:t>
                                        </m:r>
                                      </m:e>
                                      <m:sup>
                                        <m: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t>u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m:t>∂</m:t>
                                    </m:r>
                                    <m:sSup>
                                      <m:e>
                                        <m: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m:t>∂</m:t>
                                        </m:r>
                                      </m:e>
                                      <m:sup>
                                        <m: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t>u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m:t>∂</m:t>
                                    </m:r>
                                    <m:sSup>
                                      <m:e>
                                        <m:r>
                                          <m:t>y</m:t>
                                        </m:r>
                                      </m:e>
                                      <m:sup>
                                        <m: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u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p>
                                  <m:e>
                                    <m:r>
                                      <m:t>u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f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  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y</m:t>
                            </m:r>
                            <m:r>
                              <m:rPr>
                                <m:sty m:val="p"/>
                              </m:rPr>
                              <m:t>∈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1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λ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0.01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u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π</m:t>
                        </m:r>
                        <m: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π</m:t>
                        </m:r>
                        <m:r>
                          <m:t>y</m:t>
                        </m:r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Network architecture and hyperparameters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2 neural networks: </a:t>
                </a:r>
                <a14:m>
                  <m:oMath xmlns:m="http://schemas.openxmlformats.org/officeDocument/2006/math">
                    <m:sSub>
                      <m:e>
                        <m:r>
                          <m:t>u</m:t>
                        </m:r>
                      </m:e>
                      <m:sub>
                        <m:r>
                          <m:t>N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N</m:t>
                        </m:r>
                        <m:r>
                          <m:t>N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3 hidden layers with 200 neurons each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tanh</m:t>
                    </m:r>
                  </m:oMath>
                </a14:m>
                <a:r>
                  <a:rPr/>
                  <a:t> activation function</a:t>
                </a:r>
              </a:p>
              <a:p>
                <a:pPr lvl="0"/>
                <a:r>
                  <a:rPr/>
                  <a:t>ADAM optimizer</a:t>
                </a:r>
              </a:p>
              <a:p>
                <a:pPr lvl="0"/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</m:oMath>
                </a14:m>
                <a:r>
                  <a:rPr/>
                  <a:t> learning rate</a:t>
                </a:r>
              </a:p>
              <a:p>
                <a:pPr lvl="0"/>
                <a:r>
                  <a:rPr/>
                  <a:t>Xavier normalization</a:t>
                </a:r>
              </a:p>
              <a:p>
                <a:pPr lvl="0"/>
                <a:r>
                  <a:rPr/>
                  <a:t>50000 epochs</a:t>
                </a:r>
              </a:p>
              <a:p>
                <a:pPr lvl="0"/>
                <a:r>
                  <a:rPr/>
                  <a:t>2000 outputs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Predictions w/ </a:t>
                </a:r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0.01</m:t>
                    </m:r>
                  </m:oMath>
                </a14:m>
                <a:r>
                  <a:rPr/>
                  <a:t> noise on measurements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Predictions w/ </a:t>
                </a:r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0.1</m:t>
                    </m:r>
                  </m:oMath>
                </a14:m>
                <a:r>
                  <a:rPr/>
                  <a:t> noise on measurements</a:t>
                </a:r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Inverse Problems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One-dimensional nonlinear Poisson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center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λ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m:t>∂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  <m:r>
                                  <m:t>u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m:t>∂</m:t>
                                </m:r>
                                <m:sSup>
                                  <m:e>
                                    <m:r>
                                      <m:t>x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k</m:t>
                            </m:r>
                            <m:r>
                              <m:rPr>
                                <m:sty m:val="p"/>
                              </m:rPr>
                              <m:t>tanh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u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f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  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∈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0.7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0.7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λ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0.01</m:t>
                    </m:r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k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sty m:val="p"/>
                          </m:rPr>
                          <m:t>…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?</m:t>
                        </m:r>
                      </m:e>
                    </m:d>
                  </m:oMath>
                </a14:m>
                <a:r>
                  <a:rPr/>
                  <a:t> with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entries corresponding to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outputs of the MO-PINN</a:t>
                </a:r>
              </a:p>
            </p:txBody>
          </p:sp>
        </mc:Choice>
      </mc:AlternateContent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t>u</m:t>
                    </m:r>
                  </m:oMath>
                </a14:m>
                <a:r>
                  <a:rPr b="1"/>
                  <a:t> and </a:t>
                </a: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a:p>
            </p:txBody>
          </p:sp>
        </mc:Choice>
      </mc:AlternateContent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Inverse Estimates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e</m:t>
                        </m:r>
                        <m:r>
                          <m:t>x</m:t>
                        </m:r>
                        <m:r>
                          <m:t>a</m:t>
                        </m:r>
                        <m:r>
                          <m:t>c</m:t>
                        </m:r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0.7</m:t>
                    </m:r>
                  </m:oMath>
                </a14:m>
              </a:p>
            </p:txBody>
          </p:sp>
        </mc:Choice>
      </mc:AlternateContent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Sensitivity of </a:t>
                </a:r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a</m:t>
                        </m:r>
                        <m:r>
                          <m:t>v</m:t>
                        </m:r>
                        <m:r>
                          <m:t>g</m:t>
                        </m:r>
                      </m:sub>
                    </m:sSub>
                  </m:oMath>
                </a14:m>
                <a:r>
                  <a:rPr/>
                  <a:t> w.r.t number of outputs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0.1</m:t>
                    </m:r>
                  </m:oMath>
                </a14:m>
                <a:r>
                  <a:rPr b="1"/>
                  <a:t> noise</a:t>
                </a:r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Two-dimensional Allen-Cahn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center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λ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m:t>∂</m:t>
                                        </m:r>
                                      </m:e>
                                      <m:sup>
                                        <m: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t>u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m:t>∂</m:t>
                                    </m:r>
                                    <m:sSup>
                                      <m:e>
                                        <m: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m:t>∂</m:t>
                                        </m:r>
                                      </m:e>
                                      <m:sup>
                                        <m: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t>u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m:t>∂</m:t>
                                    </m:r>
                                    <m:sSup>
                                      <m:e>
                                        <m:r>
                                          <m:t>y</m:t>
                                        </m:r>
                                      </m:e>
                                      <m:sup>
                                        <m: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u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p>
                                  <m:e>
                                    <m:r>
                                      <m:t>u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f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  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y</m:t>
                            </m:r>
                            <m:r>
                              <m:rPr>
                                <m:sty m:val="p"/>
                              </m:rPr>
                              <m:t>∈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1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λ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0.01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u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π</m:t>
                        </m:r>
                        <m: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π</m:t>
                        </m:r>
                        <m:r>
                          <m:t>y</m:t>
                        </m:r>
                      </m:e>
                    </m:d>
                  </m:oMath>
                </a14:m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k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sty m:val="p"/>
                          </m:rPr>
                          <m:t>…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?</m:t>
                        </m:r>
                        <m:r>
                          <m:rPr>
                            <m:sty m:val="p"/>
                          </m:rPr>
                          <m:t>?</m:t>
                        </m:r>
                      </m:e>
                    </m:d>
                  </m:oMath>
                </a14:m>
                <a:r>
                  <a:rPr/>
                  <a:t> with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entries corresponding to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outputs of the MO-PINN</a:t>
                </a:r>
              </a:p>
            </p:txBody>
          </p:sp>
        </mc:Choice>
      </mc:AlternateContent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Inverse Estimates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e</m:t>
                        </m:r>
                        <m:r>
                          <m:t>x</m:t>
                        </m:r>
                        <m:r>
                          <m:t>a</m:t>
                        </m:r>
                        <m:r>
                          <m:t>c</m:t>
                        </m:r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1.0</m:t>
                    </m:r>
                  </m:oMath>
                </a14:m>
              </a:p>
            </p:txBody>
          </p:sp>
        </mc:Choice>
      </mc:AlternateContent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Incorporating prior statistical knowledge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Comparison to Monte Carlo FEM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One-dimensional linear Poisson equation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Comparison of distributions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MO-PINN vs. FEA Monte Carlo</a:t>
            </a:r>
          </a:p>
        </p:txBody>
      </p:sp>
      <p:pic>
        <p:nvPicPr>
          <p:cNvPr descr="img_mopinn/quanti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51300" y="203200"/>
            <a:ext cx="41529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" name="TextBox 3"/>
              <p:cNvSpPr txBox="1"/>
              <p:nvPr/>
            </p:nvSpPr>
            <p:spPr>
              <a:xfrm>
                <a:off x="3568700" y="4076700"/>
                <a:ext cx="5105400" cy="50800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 lvl="0" indent="0" marL="0" algn="ctr">
                  <a:buNone/>
                </a:pPr>
                <a:r>
                  <a:rPr/>
                  <a:t>Quantile-quantile plot of </a:t>
                </a:r>
                <a14:m>
                  <m:oMath xmlns:m="http://schemas.openxmlformats.org/officeDocument/2006/math">
                    <m:r>
                      <m:t>u</m:t>
                    </m:r>
                  </m:oMath>
                </a14:m>
                <a:r>
                  <a:rPr/>
                  <a:t> at 9 locations</a:t>
                </a:r>
              </a:p>
            </p:txBody>
          </p:sp>
        </mc:Choice>
      </mc:AlternateContent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u</m:t>
                    </m:r>
                  </m:oMath>
                </a14:m>
                <a:r>
                  <a:rPr/>
                  <a:t> predictions with only 5 measurements</a:t>
                </a:r>
              </a:p>
            </p:txBody>
          </p:sp>
        </mc:Choice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mean and std to enhance learning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 predictions with only 5 measurements</a:t>
                </a:r>
              </a:p>
            </p:txBody>
          </p:sp>
        </mc:Choice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mean and std to enhance learning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MO-PINNs appear promising for UQ</a:t>
            </a:r>
          </a:p>
          <a:p>
            <a:pPr lvl="0"/>
            <a:r>
              <a:rPr/>
              <a:t>MO-PINNs can learn solution, source terms, and parameters simultaneously</a:t>
            </a:r>
          </a:p>
          <a:p>
            <a:pPr lvl="0"/>
            <a:r>
              <a:rPr/>
              <a:t>MO-PINNs are faster than Monte Carlo forward solutions for the problem studied</a:t>
            </a:r>
          </a:p>
          <a:p>
            <a:pPr lvl="1"/>
            <a:r>
              <a:rPr/>
              <a:t>Only need to train a single network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Jiang, Xinchao, Xin Wanga, Ziming Wena, Enying Li, and Hu Wang. 2022. “An e-PINN Assisted Practical Uncertainty Quantification for Inverse Problems.” </a:t>
            </a:r>
            <a:r>
              <a:rPr i="1"/>
              <a:t>arXiv Preprint arXiv:2209.10195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Raissi, Maziar, Paris Perdikaris, and George E Karniadakis. 2019. “Physics-Informed Neural Networks: A Deep Learning Framework for Solving Forward and Inverse Problems Involving Nonlinear Partial Differential Equations.” </a:t>
            </a:r>
            <a:r>
              <a:rPr i="1"/>
              <a:t>Journal of Computational Physics</a:t>
            </a:r>
            <a:r>
              <a:rPr/>
              <a:t> 378: 686–707.</a:t>
            </a:r>
          </a:p>
          <a:p>
            <a:pPr lvl="0" indent="0" marL="0">
              <a:buNone/>
            </a:pPr>
            <a:r>
              <a:rPr/>
              <a:t>Yang, Liu, Xuhui Meng, and George Em Karniadakis. 2021. “B-PINNs: Bayesian Physics-Informed Neural Networks for Forward and Inverse PDE Problems with Noisy Data.” </a:t>
            </a:r>
            <a:r>
              <a:rPr i="1"/>
              <a:t>Journal of Computational Physics</a:t>
            </a:r>
            <a:r>
              <a:rPr/>
              <a:t> 425: 109913.</a:t>
            </a:r>
          </a:p>
          <a:p>
            <a:pPr lvl="0" indent="0" marL="0">
              <a:buNone/>
            </a:pPr>
            <a:r>
              <a:rPr/>
              <a:t>Yang, M., and J. T. Foster. 2022. “Multi-Output Physics-Informed Neural Networks for Forward and Inverse PDE Problems with Uncertainties.” </a:t>
            </a:r>
            <a:r>
              <a:rPr i="1"/>
              <a:t>Computer Methods in Applied Mechanics and Engineering</a:t>
            </a:r>
            <a:r>
              <a:rPr/>
              <a:t>, 115041. </a:t>
            </a:r>
            <a:r>
              <a:rPr>
                <a:hlinkClick r:id="rId2"/>
              </a:rPr>
              <a:t>https://doi.org/10.1016/j.cma.2022.115041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Multi-Output Physics-Informed Neural Networks for Forward and Inverse PDE Problems with Uncertainties</dc:title>
  <dc:creator>Mingyuan Yang; John T. Foster</dc:creator>
  <cp:keywords/>
  <dcterms:created xsi:type="dcterms:W3CDTF">2025-07-22T15:01:20Z</dcterms:created>
  <dcterms:modified xsi:type="dcterms:W3CDTF">2025-07-22T15:01:20Z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bib_files/usnccm17_mopinn.bib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date">
    <vt:lpwstr>2023-08-18</vt:lpwstr>
  </property>
  <property fmtid="{D5CDD505-2E9C-101B-9397-08002B2CF9AE}" pid="9" name="execute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quarto-required">
    <vt:lpwstr>1.*</vt:lpwstr>
  </property>
  <property fmtid="{D5CDD505-2E9C-101B-9397-08002B2CF9AE}" pid="15" name="toc-title">
    <vt:lpwstr>Table of contents</vt:lpwstr>
  </property>
</Properties>
</file>